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69" r:id="rId5"/>
    <p:sldId id="270" r:id="rId6"/>
    <p:sldId id="272" r:id="rId7"/>
  </p:sldIdLst>
  <p:sldSz cx="12192000" cy="6858000"/>
  <p:notesSz cx="12192000" cy="6858000"/>
  <p:embeddedFontLst>
    <p:embeddedFont>
      <p:font typeface="Arial Black" panose="020B0A04020102020204" pitchFamily="34" charset="0"/>
      <p:bold r:id="rId8"/>
    </p:embeddedFon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ubik" panose="020B0604020202020204" charset="-79"/>
      <p:regular r:id="rId13"/>
      <p:bold r:id="rId14"/>
      <p:italic r:id="rId15"/>
      <p:boldItalic r:id="rId16"/>
    </p:embeddedFont>
    <p:embeddedFont>
      <p:font typeface="Rubik Black" panose="020B0604020202020204" charset="-79"/>
      <p:bold r:id="rId17"/>
      <p:boldItalic r:id="rId18"/>
    </p:embeddedFont>
    <p:embeddedFont>
      <p:font typeface="Tahoma" panose="020B0604030504040204" pitchFamily="34" charset="0"/>
      <p:regular r:id="rId19"/>
      <p:bold r:id="rId20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7378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8" pos="234" userDrawn="1">
          <p15:clr>
            <a:srgbClr val="A4A3A4"/>
          </p15:clr>
        </p15:guide>
        <p15:guide id="11" orient="horz" pos="1094" userDrawn="1">
          <p15:clr>
            <a:srgbClr val="A4A3A4"/>
          </p15:clr>
        </p15:guide>
        <p15:guide id="12" orient="horz" pos="1774" userDrawn="1">
          <p15:clr>
            <a:srgbClr val="A4A3A4"/>
          </p15:clr>
        </p15:guide>
        <p15:guide id="13" pos="506" userDrawn="1">
          <p15:clr>
            <a:srgbClr val="A4A3A4"/>
          </p15:clr>
        </p15:guide>
        <p15:guide id="14" pos="67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C5ED0E"/>
    <a:srgbClr val="0002F7"/>
    <a:srgbClr val="000000"/>
    <a:srgbClr val="07074D"/>
    <a:srgbClr val="A0A1A5"/>
    <a:srgbClr val="FFFFFF"/>
    <a:srgbClr val="046AF3"/>
    <a:srgbClr val="ADCB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4" autoAdjust="0"/>
    <p:restoredTop sz="94660"/>
  </p:normalViewPr>
  <p:slideViewPr>
    <p:cSldViewPr>
      <p:cViewPr varScale="1">
        <p:scale>
          <a:sx n="76" d="100"/>
          <a:sy n="76" d="100"/>
        </p:scale>
        <p:origin x="43" y="53"/>
      </p:cViewPr>
      <p:guideLst>
        <p:guide orient="horz" pos="278"/>
        <p:guide pos="7378"/>
        <p:guide orient="horz" pos="3974"/>
        <p:guide pos="234"/>
        <p:guide orient="horz" pos="1094"/>
        <p:guide orient="horz" pos="1774"/>
        <p:guide pos="506"/>
        <p:guide pos="67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объект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16;p2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17;p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18;p2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19;p2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20;p2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One column text" userDrawn="1">
  <p:cSld name="One column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22;p3"/>
          <p:cNvSpPr>
            <a:spLocks noGrp="1"/>
          </p:cNvSpPr>
          <p:nvPr>
            <p:ph type="title"/>
          </p:nvPr>
        </p:nvSpPr>
        <p:spPr bwMode="auto">
          <a:xfrm>
            <a:off x="415599" y="740800"/>
            <a:ext cx="3744025" cy="1007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5550" tIns="185550" rIns="185550" bIns="1855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9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49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49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49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49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49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49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4900"/>
              <a:buNone/>
              <a:defRPr sz="32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23;p3"/>
          <p:cNvSpPr>
            <a:spLocks noGrp="1"/>
          </p:cNvSpPr>
          <p:nvPr>
            <p:ph type="body" idx="1"/>
          </p:nvPr>
        </p:nvSpPr>
        <p:spPr bwMode="auto">
          <a:xfrm>
            <a:off x="415599" y="1852800"/>
            <a:ext cx="3744025" cy="4239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5550" tIns="185550" rIns="185550" bIns="18555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1600"/>
            </a:lvl1pPr>
            <a:lvl2pPr marL="914400" lvl="1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1600"/>
            </a:lvl2pPr>
            <a:lvl3pPr marL="1371600" lvl="2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1600"/>
            </a:lvl3pPr>
            <a:lvl4pPr marL="1828800" lvl="3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1600"/>
            </a:lvl4pPr>
            <a:lvl5pPr marL="2286000" lvl="4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1600"/>
            </a:lvl5pPr>
            <a:lvl6pPr marL="2743200" lvl="5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1600"/>
            </a:lvl6pPr>
            <a:lvl7pPr marL="3200400" lvl="6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1600"/>
            </a:lvl7pPr>
            <a:lvl8pPr marL="3657600" lvl="7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1600"/>
            </a:lvl8pPr>
            <a:lvl9pPr marL="4114800" lvl="8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24;p3"/>
          <p:cNvSpPr>
            <a:spLocks noGrp="1"/>
          </p:cNvSpPr>
          <p:nvPr>
            <p:ph type="sldNum" idx="12"/>
          </p:nvPr>
        </p:nvSpPr>
        <p:spPr bwMode="auto">
          <a:xfrm>
            <a:off x="11296602" y="6217622"/>
            <a:ext cx="731540" cy="52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5550" tIns="185550" rIns="185550" bIns="185550" anchor="ctr" anchorCtr="0">
            <a:normAutofit/>
          </a:bodyPr>
          <a:lstStyle>
            <a:lvl1pPr marL="0" lvl="0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lvl="1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lvl="2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lvl="3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lvl="4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lvl="5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lvl="6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lvl="7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lvl="8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устой слайд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26;p4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27;p4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28;p4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раздела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30;p5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31;p5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32;p5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33;p5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34;p5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36;p6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37;p6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38;p6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39;p6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40;p6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Два объекта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42;p7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43;p7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44;p7"/>
          <p:cNvSpPr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45;p7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46;p7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47;p7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Сравнение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49;p8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50;p8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51;p8"/>
          <p:cNvSpPr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52;p8"/>
          <p:cNvSpPr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53;p8"/>
          <p:cNvSpPr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54;p8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" name="Google Shape;55;p8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56;p8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олько заголовок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58;p9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59;p9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60;p9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61;p9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Объект с подписью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63;p10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64;p10"/>
          <p:cNvSpPr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65;p10"/>
          <p:cNvSpPr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66;p10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67;p10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68;p10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Рисунок с подписью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70;p1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71;p11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" name="Google Shape;72;p11"/>
          <p:cNvSpPr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3;p11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74;p11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75;p11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вертикальный текст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77;p12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78;p12"/>
          <p:cNvSpPr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79;p12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80;p12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1;p12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Вертикальный заголовок и текст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83;p13"/>
          <p:cNvSpPr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84;p13"/>
          <p:cNvSpPr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85;p13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86;p13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7;p13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10;p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11;p1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12;p1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13;p1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14;p1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Скругленный прямоугольник 40"/>
          <p:cNvSpPr/>
          <p:nvPr/>
        </p:nvSpPr>
        <p:spPr>
          <a:xfrm>
            <a:off x="442913" y="549275"/>
            <a:ext cx="11269662" cy="575945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Google Shape;94;p14"/>
          <p:cNvSpPr txBox="1"/>
          <p:nvPr/>
        </p:nvSpPr>
        <p:spPr bwMode="auto">
          <a:xfrm>
            <a:off x="803275" y="2204568"/>
            <a:ext cx="8505636" cy="878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en-US" sz="5400" b="1" dirty="0">
                <a:solidFill>
                  <a:schemeClr val="bg1"/>
                </a:solidFill>
                <a:latin typeface="Rubik Black" pitchFamily="2" charset="-79"/>
                <a:ea typeface="Roboto"/>
                <a:cs typeface="Rubik Black" pitchFamily="2" charset="-79"/>
              </a:rPr>
              <a:t>&lt;</a:t>
            </a:r>
            <a:r>
              <a:rPr lang="ru-RU" sz="5400" b="1" dirty="0" err="1">
                <a:solidFill>
                  <a:schemeClr val="bg1"/>
                </a:solidFill>
                <a:latin typeface="Arial Black" panose="020B0A04020102020204" pitchFamily="34" charset="0"/>
                <a:ea typeface="Roboto"/>
                <a:cs typeface="Rubik Black" pitchFamily="2" charset="-79"/>
              </a:rPr>
              <a:t>Обучайка</a:t>
            </a:r>
            <a:r>
              <a:rPr lang="en-US" sz="5400" b="1" dirty="0">
                <a:solidFill>
                  <a:schemeClr val="bg1"/>
                </a:solidFill>
                <a:latin typeface="Rubik Black" pitchFamily="2" charset="-79"/>
                <a:ea typeface="Roboto"/>
                <a:cs typeface="Rubik Black" pitchFamily="2" charset="-79"/>
              </a:rPr>
              <a:t>&gt;</a:t>
            </a:r>
            <a:endParaRPr lang="ru-RU" sz="6000" b="1" dirty="0">
              <a:solidFill>
                <a:schemeClr val="bg1"/>
              </a:solidFill>
              <a:latin typeface="Arial Black" panose="020B0A04020102020204" pitchFamily="34" charset="0"/>
              <a:ea typeface="Roboto"/>
              <a:cs typeface="Roboto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5318" y="4040772"/>
            <a:ext cx="583329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ubik" pitchFamily="2" charset="-79"/>
                <a:ea typeface="Roboto"/>
                <a:cs typeface="Rubik" pitchFamily="2" charset="-79"/>
              </a:rPr>
              <a:t>&lt;</a:t>
            </a:r>
            <a:r>
              <a:rPr lang="ru-RU" sz="2400" b="1" dirty="0">
                <a:solidFill>
                  <a:schemeClr val="bg1"/>
                </a:solidFill>
                <a:latin typeface="Rubik" pitchFamily="2" charset="-79"/>
                <a:ea typeface="Roboto"/>
                <a:cs typeface="Rubik" pitchFamily="2" charset="-79"/>
              </a:rPr>
              <a:t>Команда «7»</a:t>
            </a:r>
            <a:r>
              <a:rPr lang="en-US" sz="2400" b="1" dirty="0">
                <a:solidFill>
                  <a:schemeClr val="bg1"/>
                </a:solidFill>
                <a:latin typeface="Rubik" pitchFamily="2" charset="-79"/>
                <a:ea typeface="Roboto"/>
                <a:cs typeface="Rubik" pitchFamily="2" charset="-79"/>
              </a:rPr>
              <a:t>&gt;</a:t>
            </a:r>
            <a:endParaRPr lang="ru-RU" sz="2400" b="1" dirty="0">
              <a:solidFill>
                <a:schemeClr val="bg1"/>
              </a:solidFill>
              <a:latin typeface="Rubik" pitchFamily="2" charset="-79"/>
              <a:ea typeface="Roboto"/>
              <a:cs typeface="Rubik" pitchFamily="2" charset="-79"/>
            </a:endParaRPr>
          </a:p>
          <a:p>
            <a:endParaRPr lang="ru-RU" dirty="0"/>
          </a:p>
        </p:txBody>
      </p:sp>
      <p:sp>
        <p:nvSpPr>
          <p:cNvPr id="37" name="Скругленный прямоугольник 36"/>
          <p:cNvSpPr/>
          <p:nvPr/>
        </p:nvSpPr>
        <p:spPr>
          <a:xfrm>
            <a:off x="883975" y="3861048"/>
            <a:ext cx="3744416" cy="72008"/>
          </a:xfrm>
          <a:prstGeom prst="roundRect">
            <a:avLst>
              <a:gd name="adj" fmla="val 50000"/>
            </a:avLst>
          </a:prstGeom>
          <a:solidFill>
            <a:srgbClr val="C5ED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1" name="Рисунок 5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05220">
            <a:off x="8105890" y="2378552"/>
            <a:ext cx="6525887" cy="6525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1"/>
          <p:cNvSpPr/>
          <p:nvPr/>
        </p:nvSpPr>
        <p:spPr bwMode="auto">
          <a:xfrm>
            <a:off x="-2400944" y="3152432"/>
            <a:ext cx="85013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Состав команды</a:t>
            </a:r>
            <a:endParaRPr dirty="0"/>
          </a:p>
        </p:txBody>
      </p:sp>
      <p:sp>
        <p:nvSpPr>
          <p:cNvPr id="13" name="Google Shape;94;p14"/>
          <p:cNvSpPr txBox="1"/>
          <p:nvPr/>
        </p:nvSpPr>
        <p:spPr bwMode="auto">
          <a:xfrm>
            <a:off x="803275" y="907581"/>
            <a:ext cx="2520417" cy="643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команда </a:t>
            </a:r>
            <a:endParaRPr lang="ru-RU" sz="4000" b="1" dirty="0">
              <a:solidFill>
                <a:srgbClr val="333333"/>
              </a:solidFill>
              <a:latin typeface="Arial Black" panose="020B0A04020102020204" pitchFamily="34" charset="0"/>
              <a:ea typeface="Roboto"/>
              <a:cs typeface="Roboto"/>
            </a:endParaRPr>
          </a:p>
        </p:txBody>
      </p:sp>
      <p:sp>
        <p:nvSpPr>
          <p:cNvPr id="14" name="Google Shape;94;p14"/>
          <p:cNvSpPr txBox="1"/>
          <p:nvPr/>
        </p:nvSpPr>
        <p:spPr bwMode="auto">
          <a:xfrm>
            <a:off x="785729" y="1505968"/>
            <a:ext cx="4482179" cy="878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54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7</a:t>
            </a: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 </a:t>
            </a:r>
            <a:endParaRPr lang="ru-RU" sz="4000" b="1" dirty="0">
              <a:solidFill>
                <a:srgbClr val="333333"/>
              </a:solidFill>
              <a:latin typeface="Arial Black" panose="020B0A04020102020204" pitchFamily="34" charset="0"/>
              <a:ea typeface="Roboto"/>
              <a:cs typeface="Roboto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528048" y="549275"/>
            <a:ext cx="5184527" cy="5759449"/>
          </a:xfrm>
          <a:prstGeom prst="roundRect">
            <a:avLst/>
          </a:prstGeom>
          <a:solidFill>
            <a:srgbClr val="3333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Скругленный прямоугольник 29"/>
          <p:cNvSpPr/>
          <p:nvPr/>
        </p:nvSpPr>
        <p:spPr bwMode="auto">
          <a:xfrm>
            <a:off x="794530" y="2384884"/>
            <a:ext cx="4221350" cy="144016"/>
          </a:xfrm>
          <a:prstGeom prst="roundRect">
            <a:avLst>
              <a:gd name="adj" fmla="val 50000"/>
            </a:avLst>
          </a:prstGeom>
          <a:solidFill>
            <a:srgbClr val="C5ED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6109270">
            <a:off x="-177740" y="3635979"/>
            <a:ext cx="3430367" cy="343036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FD5279-C029-D4AE-C34D-C6D48E7F22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204" t="34775" r="1134" b="16925"/>
          <a:stretch>
            <a:fillRect/>
          </a:stretch>
        </p:blipFill>
        <p:spPr>
          <a:xfrm>
            <a:off x="6647238" y="1111853"/>
            <a:ext cx="4946146" cy="46342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1"/>
          <p:cNvSpPr/>
          <p:nvPr/>
        </p:nvSpPr>
        <p:spPr bwMode="auto">
          <a:xfrm>
            <a:off x="-2400944" y="3152432"/>
            <a:ext cx="85013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Состав команды</a:t>
            </a:r>
            <a:endParaRPr dirty="0"/>
          </a:p>
        </p:txBody>
      </p:sp>
      <p:sp>
        <p:nvSpPr>
          <p:cNvPr id="13" name="Google Shape;94;p14"/>
          <p:cNvSpPr txBox="1"/>
          <p:nvPr/>
        </p:nvSpPr>
        <p:spPr bwMode="auto">
          <a:xfrm>
            <a:off x="820821" y="478810"/>
            <a:ext cx="4032585" cy="1165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О ПРОДУКТЕ</a:t>
            </a:r>
          </a:p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 </a:t>
            </a:r>
            <a:endParaRPr lang="ru-RU" sz="4000" b="1" dirty="0">
              <a:solidFill>
                <a:srgbClr val="333333"/>
              </a:solidFill>
              <a:latin typeface="Arial Black" panose="020B0A04020102020204" pitchFamily="34" charset="0"/>
              <a:ea typeface="Roboto"/>
              <a:cs typeface="Roboto"/>
            </a:endParaRPr>
          </a:p>
        </p:txBody>
      </p:sp>
      <p:sp>
        <p:nvSpPr>
          <p:cNvPr id="14" name="Google Shape;94;p14"/>
          <p:cNvSpPr txBox="1"/>
          <p:nvPr/>
        </p:nvSpPr>
        <p:spPr bwMode="auto">
          <a:xfrm>
            <a:off x="803275" y="1267673"/>
            <a:ext cx="9577201" cy="80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48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ТЕХНИЧЕСКОЕ РЕШЕНИЕ </a:t>
            </a:r>
          </a:p>
        </p:txBody>
      </p:sp>
      <p:sp>
        <p:nvSpPr>
          <p:cNvPr id="15" name="Скругленный прямоугольник 14"/>
          <p:cNvSpPr/>
          <p:nvPr/>
        </p:nvSpPr>
        <p:spPr bwMode="auto">
          <a:xfrm>
            <a:off x="803274" y="1160748"/>
            <a:ext cx="5472745" cy="72008"/>
          </a:xfrm>
          <a:prstGeom prst="roundRect">
            <a:avLst>
              <a:gd name="adj" fmla="val 50000"/>
            </a:avLst>
          </a:prstGeom>
          <a:solidFill>
            <a:srgbClr val="000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"/>
          <p:cNvSpPr/>
          <p:nvPr/>
        </p:nvSpPr>
        <p:spPr bwMode="auto">
          <a:xfrm>
            <a:off x="-4250659" y="-4563888"/>
            <a:ext cx="85013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Стек разработки</a:t>
            </a:r>
            <a:endParaRPr dirty="0"/>
          </a:p>
        </p:txBody>
      </p:sp>
      <p:sp>
        <p:nvSpPr>
          <p:cNvPr id="21" name="Прямоугольник 1"/>
          <p:cNvSpPr/>
          <p:nvPr/>
        </p:nvSpPr>
        <p:spPr bwMode="auto">
          <a:xfrm>
            <a:off x="-5006743" y="-3303748"/>
            <a:ext cx="85013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dirty="0" err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ux</a:t>
            </a:r>
            <a:r>
              <a:rPr lang="ru-RU" sz="20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/</a:t>
            </a:r>
            <a:r>
              <a:rPr lang="ru-RU" sz="2000" b="1" dirty="0" err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ui</a:t>
            </a:r>
            <a:endParaRPr lang="ru-RU" sz="2000" b="1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3" name="TextBox 22"/>
          <p:cNvSpPr txBox="1"/>
          <p:nvPr/>
        </p:nvSpPr>
        <p:spPr bwMode="auto">
          <a:xfrm>
            <a:off x="8225873" y="3275111"/>
            <a:ext cx="1428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Фото команды</a:t>
            </a:r>
          </a:p>
        </p:txBody>
      </p:sp>
      <p:sp>
        <p:nvSpPr>
          <p:cNvPr id="29" name="Скругленный прямоугольник 28"/>
          <p:cNvSpPr/>
          <p:nvPr/>
        </p:nvSpPr>
        <p:spPr bwMode="auto">
          <a:xfrm>
            <a:off x="947428" y="3132358"/>
            <a:ext cx="4716524" cy="3184075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2400" dirty="0">
                <a:latin typeface="Roboto"/>
                <a:cs typeface="Roboto"/>
              </a:rPr>
              <a:t>Python\</a:t>
            </a:r>
            <a:r>
              <a:rPr lang="en-US" sz="2400" dirty="0" err="1">
                <a:latin typeface="Roboto"/>
                <a:cs typeface="Roboto"/>
              </a:rPr>
              <a:t>FastApi</a:t>
            </a:r>
            <a:r>
              <a:rPr lang="en-US" sz="2400" dirty="0">
                <a:latin typeface="Roboto"/>
                <a:cs typeface="Roboto"/>
              </a:rPr>
              <a:t> + PostgreSQL + </a:t>
            </a:r>
            <a:r>
              <a:rPr lang="en-US" sz="2400" dirty="0" err="1">
                <a:latin typeface="Roboto"/>
                <a:cs typeface="Roboto"/>
              </a:rPr>
              <a:t>uv</a:t>
            </a:r>
            <a:r>
              <a:rPr lang="en-US" sz="2400" dirty="0">
                <a:latin typeface="Roboto"/>
                <a:cs typeface="Roboto"/>
              </a:rPr>
              <a:t> + </a:t>
            </a:r>
            <a:r>
              <a:rPr lang="en-US" sz="2400" dirty="0" err="1">
                <a:latin typeface="Roboto"/>
                <a:cs typeface="Roboto"/>
              </a:rPr>
              <a:t>sqlalchemy</a:t>
            </a:r>
            <a:r>
              <a:rPr lang="en-US" sz="2400" dirty="0">
                <a:latin typeface="Roboto"/>
                <a:cs typeface="Roboto"/>
              </a:rPr>
              <a:t> + docker</a:t>
            </a:r>
            <a:endParaRPr lang="ru-RU" sz="1600" dirty="0">
              <a:latin typeface="Roboto"/>
              <a:cs typeface="Roboto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775520" y="3212976"/>
            <a:ext cx="3636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b="1" dirty="0">
                <a:solidFill>
                  <a:schemeClr val="bg1"/>
                </a:solidFill>
                <a:latin typeface="Rubik Black" pitchFamily="2" charset="-79"/>
                <a:ea typeface="Roboto"/>
                <a:cs typeface="Rubik Black" pitchFamily="2" charset="-79"/>
              </a:rPr>
              <a:t>Стек разработки</a:t>
            </a:r>
          </a:p>
        </p:txBody>
      </p:sp>
      <p:sp>
        <p:nvSpPr>
          <p:cNvPr id="31" name="Скругленный прямоугольник 30"/>
          <p:cNvSpPr/>
          <p:nvPr/>
        </p:nvSpPr>
        <p:spPr bwMode="auto">
          <a:xfrm>
            <a:off x="6456040" y="3140968"/>
            <a:ext cx="4716524" cy="3184075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React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+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TypeScript </a:t>
            </a:r>
            <a:endParaRPr lang="ru-RU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TextBox 31"/>
          <p:cNvSpPr txBox="1"/>
          <p:nvPr/>
        </p:nvSpPr>
        <p:spPr bwMode="auto">
          <a:xfrm>
            <a:off x="8264748" y="3212976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 err="1">
                <a:solidFill>
                  <a:schemeClr val="bg1"/>
                </a:solidFill>
                <a:latin typeface="Rubik Black" pitchFamily="2" charset="-79"/>
                <a:ea typeface="Roboto"/>
                <a:cs typeface="Rubik Black" pitchFamily="2" charset="-79"/>
              </a:rPr>
              <a:t>ux</a:t>
            </a:r>
            <a:r>
              <a:rPr lang="en-US" sz="2000" b="1" dirty="0">
                <a:solidFill>
                  <a:schemeClr val="bg1"/>
                </a:solidFill>
                <a:latin typeface="Rubik Black" pitchFamily="2" charset="-79"/>
                <a:ea typeface="Roboto"/>
                <a:cs typeface="Rubik Black" pitchFamily="2" charset="-79"/>
              </a:rPr>
              <a:t>/</a:t>
            </a:r>
            <a:r>
              <a:rPr lang="en-US" sz="2000" b="1" dirty="0" err="1">
                <a:solidFill>
                  <a:schemeClr val="bg1"/>
                </a:solidFill>
                <a:latin typeface="Rubik Black" pitchFamily="2" charset="-79"/>
                <a:ea typeface="Roboto"/>
                <a:cs typeface="Rubik Black" pitchFamily="2" charset="-79"/>
              </a:rPr>
              <a:t>ui</a:t>
            </a:r>
            <a:endParaRPr lang="en-US" sz="2000" b="1" dirty="0">
              <a:solidFill>
                <a:schemeClr val="bg1"/>
              </a:solidFill>
              <a:latin typeface="Rubik Black" pitchFamily="2" charset="-79"/>
              <a:ea typeface="Roboto"/>
              <a:cs typeface="Rubik Black" pitchFamily="2" charset="-79"/>
            </a:endParaRPr>
          </a:p>
        </p:txBody>
      </p:sp>
      <p:sp>
        <p:nvSpPr>
          <p:cNvPr id="35" name="Скругленный прямоугольник 34"/>
          <p:cNvSpPr/>
          <p:nvPr/>
        </p:nvSpPr>
        <p:spPr bwMode="auto">
          <a:xfrm flipV="1">
            <a:off x="2999656" y="3609019"/>
            <a:ext cx="2340260" cy="54032"/>
          </a:xfrm>
          <a:prstGeom prst="roundRect">
            <a:avLst>
              <a:gd name="adj" fmla="val 50000"/>
            </a:avLst>
          </a:prstGeom>
          <a:solidFill>
            <a:srgbClr val="000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Скругленный прямоугольник 35"/>
          <p:cNvSpPr/>
          <p:nvPr/>
        </p:nvSpPr>
        <p:spPr bwMode="auto">
          <a:xfrm flipV="1">
            <a:off x="10092444" y="3609019"/>
            <a:ext cx="792088" cy="45719"/>
          </a:xfrm>
          <a:prstGeom prst="roundRect">
            <a:avLst>
              <a:gd name="adj" fmla="val 50000"/>
            </a:avLst>
          </a:prstGeom>
          <a:solidFill>
            <a:srgbClr val="000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6" name="Рисунок 4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5856562">
            <a:off x="9229210" y="-342900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7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1"/>
          <p:cNvSpPr/>
          <p:nvPr/>
        </p:nvSpPr>
        <p:spPr bwMode="auto">
          <a:xfrm>
            <a:off x="-2400944" y="3152432"/>
            <a:ext cx="85013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Состав команды</a:t>
            </a:r>
            <a:endParaRPr dirty="0"/>
          </a:p>
        </p:txBody>
      </p:sp>
      <p:sp>
        <p:nvSpPr>
          <p:cNvPr id="13" name="Google Shape;94;p14"/>
          <p:cNvSpPr txBox="1"/>
          <p:nvPr/>
        </p:nvSpPr>
        <p:spPr bwMode="auto">
          <a:xfrm>
            <a:off x="820821" y="478810"/>
            <a:ext cx="4032585" cy="1165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О ПРОДУКТЕ</a:t>
            </a:r>
          </a:p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 </a:t>
            </a:r>
            <a:endParaRPr lang="ru-RU" sz="4000" b="1" dirty="0">
              <a:solidFill>
                <a:srgbClr val="333333"/>
              </a:solidFill>
              <a:latin typeface="Arial Black" panose="020B0A04020102020204" pitchFamily="34" charset="0"/>
              <a:ea typeface="Roboto"/>
              <a:cs typeface="Roboto"/>
            </a:endParaRPr>
          </a:p>
        </p:txBody>
      </p:sp>
      <p:sp>
        <p:nvSpPr>
          <p:cNvPr id="14" name="Google Shape;94;p14"/>
          <p:cNvSpPr txBox="1"/>
          <p:nvPr/>
        </p:nvSpPr>
        <p:spPr bwMode="auto">
          <a:xfrm>
            <a:off x="803275" y="1267673"/>
            <a:ext cx="9901238" cy="80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48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ТЕХНИЧЕСКОЕ РЕШЕНИЕ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5873" y="3275111"/>
            <a:ext cx="1428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Фото команды</a:t>
            </a:r>
          </a:p>
        </p:txBody>
      </p:sp>
      <p:sp>
        <p:nvSpPr>
          <p:cNvPr id="15" name="Скругленный прямоугольник 14"/>
          <p:cNvSpPr/>
          <p:nvPr/>
        </p:nvSpPr>
        <p:spPr bwMode="auto">
          <a:xfrm>
            <a:off x="803274" y="1160748"/>
            <a:ext cx="5472745" cy="72008"/>
          </a:xfrm>
          <a:prstGeom prst="roundRect">
            <a:avLst>
              <a:gd name="adj" fmla="val 50000"/>
            </a:avLst>
          </a:prstGeom>
          <a:solidFill>
            <a:srgbClr val="C5ED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 bwMode="auto">
          <a:xfrm>
            <a:off x="947428" y="3132358"/>
            <a:ext cx="4716524" cy="3184075"/>
          </a:xfrm>
          <a:prstGeom prst="roundRect">
            <a:avLst>
              <a:gd name="adj" fmla="val 16667"/>
            </a:avLst>
          </a:prstGeom>
          <a:solidFill>
            <a:srgbClr val="C5ED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sz="1800" dirty="0">
                <a:solidFill>
                  <a:schemeClr val="tx1"/>
                </a:solidFill>
                <a:latin typeface="Roboto"/>
                <a:cs typeface="Roboto"/>
              </a:rPr>
              <a:t>Авторизация и регистрация</a:t>
            </a:r>
          </a:p>
          <a:p>
            <a:pPr>
              <a:defRPr/>
            </a:pPr>
            <a:endParaRPr lang="ru-RU" sz="18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sz="1800" dirty="0">
                <a:solidFill>
                  <a:schemeClr val="tx1"/>
                </a:solidFill>
                <a:latin typeface="Roboto"/>
                <a:cs typeface="Roboto"/>
              </a:rPr>
              <a:t>Уроки и модули</a:t>
            </a:r>
          </a:p>
          <a:p>
            <a:pPr>
              <a:defRPr/>
            </a:pPr>
            <a:endParaRPr lang="ru-RU" sz="18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sz="1800" dirty="0">
                <a:solidFill>
                  <a:schemeClr val="tx1"/>
                </a:solidFill>
                <a:latin typeface="Roboto"/>
                <a:cs typeface="Roboto"/>
              </a:rPr>
              <a:t>Система уровней, опыта (</a:t>
            </a:r>
            <a:r>
              <a:rPr lang="en-US" sz="1800" dirty="0">
                <a:solidFill>
                  <a:schemeClr val="tx1"/>
                </a:solidFill>
                <a:latin typeface="Roboto"/>
                <a:cs typeface="Roboto"/>
              </a:rPr>
              <a:t>XP</a:t>
            </a:r>
            <a:r>
              <a:rPr lang="ru-RU" sz="1800" dirty="0">
                <a:solidFill>
                  <a:schemeClr val="tx1"/>
                </a:solidFill>
                <a:latin typeface="Roboto"/>
                <a:cs typeface="Roboto"/>
              </a:rPr>
              <a:t>), ачивок</a:t>
            </a:r>
          </a:p>
          <a:p>
            <a:pPr>
              <a:defRPr/>
            </a:pPr>
            <a:endParaRPr lang="ru-RU" sz="18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sz="1800" dirty="0">
                <a:solidFill>
                  <a:schemeClr val="tx1"/>
                </a:solidFill>
                <a:latin typeface="Roboto"/>
                <a:cs typeface="Roboto"/>
              </a:rPr>
              <a:t>Практические задания</a:t>
            </a:r>
          </a:p>
          <a:p>
            <a:pPr>
              <a:defRPr/>
            </a:pPr>
            <a:endParaRPr lang="ru-RU" sz="18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sz="1800" dirty="0">
                <a:solidFill>
                  <a:schemeClr val="tx1"/>
                </a:solidFill>
                <a:latin typeface="Roboto"/>
                <a:cs typeface="Roboto"/>
              </a:rPr>
              <a:t>Тестирование знаний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8492" y="2449516"/>
            <a:ext cx="39143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Разработка обязательного функционала </a:t>
            </a:r>
          </a:p>
        </p:txBody>
      </p:sp>
      <p:sp>
        <p:nvSpPr>
          <p:cNvPr id="31" name="Скругленный прямоугольник 30"/>
          <p:cNvSpPr/>
          <p:nvPr/>
        </p:nvSpPr>
        <p:spPr bwMode="auto">
          <a:xfrm>
            <a:off x="6456040" y="3140968"/>
            <a:ext cx="4716524" cy="3184075"/>
          </a:xfrm>
          <a:prstGeom prst="roundRect">
            <a:avLst>
              <a:gd name="adj" fmla="val 16667"/>
            </a:avLst>
          </a:prstGeom>
          <a:solidFill>
            <a:srgbClr val="C5ED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800" dirty="0">
                <a:solidFill>
                  <a:srgbClr val="000000"/>
                </a:solidFill>
                <a:latin typeface="Roboto"/>
                <a:cs typeface="Roboto"/>
              </a:rPr>
              <a:t>Родительский контроль</a:t>
            </a:r>
          </a:p>
          <a:p>
            <a:pPr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cs typeface="Roboto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cs typeface="Roboto"/>
              </a:rPr>
              <a:t>Рейтинг курса среди учеников</a:t>
            </a: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cs typeface="Roboto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800" dirty="0">
                <a:solidFill>
                  <a:srgbClr val="000000"/>
                </a:solidFill>
                <a:latin typeface="Roboto"/>
                <a:cs typeface="Roboto"/>
              </a:rPr>
              <a:t>Мини форум с комментариями под каждым заданием</a:t>
            </a: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cs typeface="Roboto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54074" y="2444546"/>
            <a:ext cx="4320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Разработка дополнительного функционала </a:t>
            </a:r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8605284">
            <a:off x="8763000" y="-3429000"/>
            <a:ext cx="6858000" cy="6858000"/>
          </a:xfrm>
          <a:prstGeom prst="rect">
            <a:avLst/>
          </a:prstGeom>
        </p:spPr>
      </p:pic>
      <p:pic>
        <p:nvPicPr>
          <p:cNvPr id="40" name="Рисунок 39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32321" y="2510898"/>
            <a:ext cx="1260140" cy="1260140"/>
          </a:xfrm>
          <a:prstGeom prst="rect">
            <a:avLst/>
          </a:prstGeom>
        </p:spPr>
      </p:pic>
      <p:pic>
        <p:nvPicPr>
          <p:cNvPr id="41" name="Рисунок 40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8265" y="2440459"/>
            <a:ext cx="1260140" cy="126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67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1"/>
          <p:cNvSpPr/>
          <p:nvPr/>
        </p:nvSpPr>
        <p:spPr bwMode="auto">
          <a:xfrm>
            <a:off x="-2400944" y="3152432"/>
            <a:ext cx="85013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Состав команды</a:t>
            </a:r>
            <a:endParaRPr dirty="0"/>
          </a:p>
        </p:txBody>
      </p:sp>
      <p:sp>
        <p:nvSpPr>
          <p:cNvPr id="13" name="Google Shape;94;p14"/>
          <p:cNvSpPr txBox="1"/>
          <p:nvPr/>
        </p:nvSpPr>
        <p:spPr bwMode="auto">
          <a:xfrm>
            <a:off x="820821" y="478810"/>
            <a:ext cx="4032585" cy="1165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О ПРОДУКТЕ</a:t>
            </a:r>
          </a:p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 </a:t>
            </a:r>
            <a:endParaRPr lang="ru-RU" sz="4000" b="1" dirty="0">
              <a:solidFill>
                <a:srgbClr val="333333"/>
              </a:solidFill>
              <a:latin typeface="Arial Black" panose="020B0A04020102020204" pitchFamily="34" charset="0"/>
              <a:ea typeface="Roboto"/>
              <a:cs typeface="Roboto"/>
            </a:endParaRPr>
          </a:p>
        </p:txBody>
      </p:sp>
      <p:sp>
        <p:nvSpPr>
          <p:cNvPr id="14" name="Google Shape;94;p14"/>
          <p:cNvSpPr txBox="1"/>
          <p:nvPr/>
        </p:nvSpPr>
        <p:spPr bwMode="auto">
          <a:xfrm>
            <a:off x="803275" y="1267673"/>
            <a:ext cx="6660877" cy="142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48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КОНКУРЕНТНОЕ ПРЕИМУЩЕСТВО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5873" y="3275111"/>
            <a:ext cx="1428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Фото команды</a:t>
            </a:r>
          </a:p>
        </p:txBody>
      </p:sp>
      <p:sp>
        <p:nvSpPr>
          <p:cNvPr id="15" name="Скругленный прямоугольник 14"/>
          <p:cNvSpPr/>
          <p:nvPr/>
        </p:nvSpPr>
        <p:spPr bwMode="auto">
          <a:xfrm>
            <a:off x="803274" y="1160748"/>
            <a:ext cx="5472745" cy="72008"/>
          </a:xfrm>
          <a:prstGeom prst="roundRect">
            <a:avLst>
              <a:gd name="adj" fmla="val 50000"/>
            </a:avLst>
          </a:prstGeom>
          <a:solidFill>
            <a:srgbClr val="C5ED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5856562">
            <a:off x="8022114" y="2618810"/>
            <a:ext cx="6858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B55A96-B566-1FEB-C9D1-CC3C480B0317}"/>
              </a:ext>
            </a:extLst>
          </p:cNvPr>
          <p:cNvSpPr txBox="1"/>
          <p:nvPr/>
        </p:nvSpPr>
        <p:spPr>
          <a:xfrm>
            <a:off x="793433" y="2783100"/>
            <a:ext cx="7432440" cy="36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Система объединяет обучение, проверку знаний, мотивацию и родительский контроль в одном продукте</a:t>
            </a:r>
            <a:r>
              <a:rPr 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ru-RU" sz="18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Платформа делает упор не только на выдачу контента, но и на удержание ученика через геймификацию: XP, уровни, достижения, серия активности и </a:t>
            </a:r>
            <a:r>
              <a:rPr lang="ru-RU" sz="18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лидерборд</a:t>
            </a:r>
            <a:r>
              <a:rPr lang="ru-RU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Платформа поддерживает сразу несколько форматов обучения: теория, тесты, практические задания и блочный формат.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учителя система удобна тем, что объединяет создание курсов, выдачу заданий, проверку работ и отслеживание прогресса в одном интерфейсе.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родителей есть возможность видеть успеваемость и активность ребёнка без сложной настройки.</a:t>
            </a:r>
          </a:p>
        </p:txBody>
      </p:sp>
    </p:spTree>
    <p:extLst>
      <p:ext uri="{BB962C8B-B14F-4D97-AF65-F5344CB8AC3E}">
        <p14:creationId xmlns:p14="http://schemas.microsoft.com/office/powerpoint/2010/main" val="3765059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1"/>
          <p:cNvSpPr/>
          <p:nvPr/>
        </p:nvSpPr>
        <p:spPr bwMode="auto">
          <a:xfrm>
            <a:off x="-2400944" y="3152432"/>
            <a:ext cx="85013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Состав команды</a:t>
            </a:r>
            <a:endParaRPr dirty="0"/>
          </a:p>
        </p:txBody>
      </p:sp>
      <p:sp>
        <p:nvSpPr>
          <p:cNvPr id="13" name="Google Shape;94;p14"/>
          <p:cNvSpPr txBox="1"/>
          <p:nvPr/>
        </p:nvSpPr>
        <p:spPr bwMode="auto">
          <a:xfrm>
            <a:off x="820821" y="478810"/>
            <a:ext cx="4032585" cy="1165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О ПРОДУКТЕ</a:t>
            </a:r>
          </a:p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 </a:t>
            </a:r>
            <a:endParaRPr lang="ru-RU" sz="4000" b="1" dirty="0">
              <a:solidFill>
                <a:srgbClr val="333333"/>
              </a:solidFill>
              <a:latin typeface="Arial Black" panose="020B0A04020102020204" pitchFamily="34" charset="0"/>
              <a:ea typeface="Roboto"/>
              <a:cs typeface="Roboto"/>
            </a:endParaRPr>
          </a:p>
        </p:txBody>
      </p:sp>
      <p:sp>
        <p:nvSpPr>
          <p:cNvPr id="14" name="Google Shape;94;p14"/>
          <p:cNvSpPr txBox="1"/>
          <p:nvPr/>
        </p:nvSpPr>
        <p:spPr bwMode="auto">
          <a:xfrm>
            <a:off x="803275" y="1267673"/>
            <a:ext cx="12601537" cy="80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48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ПЕРСПЕКТИВЫ РАЗВИТИЯ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5873" y="3275111"/>
            <a:ext cx="1428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Фото команды</a:t>
            </a:r>
          </a:p>
        </p:txBody>
      </p:sp>
      <p:sp>
        <p:nvSpPr>
          <p:cNvPr id="15" name="Скругленный прямоугольник 14"/>
          <p:cNvSpPr/>
          <p:nvPr/>
        </p:nvSpPr>
        <p:spPr bwMode="auto">
          <a:xfrm>
            <a:off x="803274" y="1160748"/>
            <a:ext cx="5472745" cy="72008"/>
          </a:xfrm>
          <a:prstGeom prst="roundRect">
            <a:avLst>
              <a:gd name="adj" fmla="val 50000"/>
            </a:avLst>
          </a:prstGeom>
          <a:solidFill>
            <a:srgbClr val="C5ED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 bwMode="auto">
          <a:xfrm>
            <a:off x="805481" y="2384884"/>
            <a:ext cx="8849227" cy="684076"/>
          </a:xfrm>
          <a:prstGeom prst="roundRect">
            <a:avLst>
              <a:gd name="adj" fmla="val 24671"/>
            </a:avLst>
          </a:prstGeom>
          <a:noFill/>
          <a:ln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Скругленный прямоугольник 32"/>
          <p:cNvSpPr/>
          <p:nvPr/>
        </p:nvSpPr>
        <p:spPr bwMode="auto">
          <a:xfrm>
            <a:off x="803274" y="3434188"/>
            <a:ext cx="8561739" cy="720080"/>
          </a:xfrm>
          <a:prstGeom prst="roundRect">
            <a:avLst>
              <a:gd name="adj" fmla="val 24671"/>
            </a:avLst>
          </a:prstGeom>
          <a:noFill/>
          <a:ln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4" name="Скругленный прямоугольник 33"/>
          <p:cNvSpPr/>
          <p:nvPr/>
        </p:nvSpPr>
        <p:spPr bwMode="auto">
          <a:xfrm>
            <a:off x="809066" y="4519496"/>
            <a:ext cx="7428337" cy="720080"/>
          </a:xfrm>
          <a:prstGeom prst="roundRect">
            <a:avLst>
              <a:gd name="adj" fmla="val 24671"/>
            </a:avLst>
          </a:prstGeom>
          <a:noFill/>
          <a:ln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5" name="Скругленный прямоугольник 34"/>
          <p:cNvSpPr/>
          <p:nvPr/>
        </p:nvSpPr>
        <p:spPr bwMode="auto">
          <a:xfrm>
            <a:off x="815075" y="5604805"/>
            <a:ext cx="7801205" cy="720080"/>
          </a:xfrm>
          <a:prstGeom prst="roundRect">
            <a:avLst>
              <a:gd name="adj" fmla="val 24671"/>
            </a:avLst>
          </a:prstGeom>
          <a:noFill/>
          <a:ln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499294">
            <a:off x="8283574" y="2879725"/>
            <a:ext cx="6858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10FAAA-85E1-B68D-4AA8-6D5896510C10}"/>
              </a:ext>
            </a:extLst>
          </p:cNvPr>
          <p:cNvSpPr txBox="1"/>
          <p:nvPr/>
        </p:nvSpPr>
        <p:spPr>
          <a:xfrm>
            <a:off x="815076" y="2434534"/>
            <a:ext cx="87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ерсонализированные рекомендации, которые будут подбирать задания и курсы под уровень и прогресс ученика.</a:t>
            </a:r>
            <a:endParaRPr lang="ru-RU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561977-ADF3-79A9-21FC-EB4692A97C1B}"/>
              </a:ext>
            </a:extLst>
          </p:cNvPr>
          <p:cNvSpPr txBox="1"/>
          <p:nvPr/>
        </p:nvSpPr>
        <p:spPr>
          <a:xfrm>
            <a:off x="815075" y="3506855"/>
            <a:ext cx="85617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Глубокая аналитика для учителей и родителей: слабые темы, динамика успеваемости и прогноз риска потери интереса.</a:t>
            </a:r>
            <a:endParaRPr lang="ru-RU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EE440C-2ADA-4A39-979F-6C921CD9AB2F}"/>
              </a:ext>
            </a:extLst>
          </p:cNvPr>
          <p:cNvSpPr txBox="1"/>
          <p:nvPr/>
        </p:nvSpPr>
        <p:spPr>
          <a:xfrm>
            <a:off x="815075" y="4587148"/>
            <a:ext cx="73017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обильное приложение для повышения вовлечённости и регулярности занятий. </a:t>
            </a:r>
            <a:endParaRPr lang="ru-RU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B6064-9BCD-1CE0-7331-F7D2E4143E33}"/>
              </a:ext>
            </a:extLst>
          </p:cNvPr>
          <p:cNvSpPr txBox="1"/>
          <p:nvPr/>
        </p:nvSpPr>
        <p:spPr>
          <a:xfrm>
            <a:off x="815075" y="5672457"/>
            <a:ext cx="7710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нтеграция с внешними образовательными платформами, электронными дневниками и библиотеками учебного контента.</a:t>
            </a:r>
            <a:endParaRPr lang="ru-RU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5863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1687</TotalTime>
  <Words>266</Words>
  <Application>Microsoft Office PowerPoint</Application>
  <DocSecurity>0</DocSecurity>
  <PresentationFormat>Широкоэкранный</PresentationFormat>
  <Paragraphs>56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4" baseType="lpstr">
      <vt:lpstr>Arial</vt:lpstr>
      <vt:lpstr>Tahoma</vt:lpstr>
      <vt:lpstr>Calibri</vt:lpstr>
      <vt:lpstr>Rubik Black</vt:lpstr>
      <vt:lpstr>Roboto</vt:lpstr>
      <vt:lpstr>Arial Black</vt:lpstr>
      <vt:lpstr>Rubik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Хрипкова Юлия Дмитриевна</dc:creator>
  <cp:keywords/>
  <dc:description/>
  <cp:lastModifiedBy>Данияр Мендыгалиев</cp:lastModifiedBy>
  <cp:revision>284</cp:revision>
  <dcterms:modified xsi:type="dcterms:W3CDTF">2026-03-29T04:51:45Z</dcterms:modified>
  <cp:category/>
  <dc:identifier/>
  <cp:contentStatus/>
  <dc:language/>
  <cp:version/>
</cp:coreProperties>
</file>